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7"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94660"/>
  </p:normalViewPr>
  <p:slideViewPr>
    <p:cSldViewPr snapToGrid="0">
      <p:cViewPr varScale="1">
        <p:scale>
          <a:sx n="59" d="100"/>
          <a:sy n="59" d="100"/>
        </p:scale>
        <p:origin x="14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69206-D2D3-A86B-2C8C-1C74C03E6E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996700-6107-5BC3-C6E6-D82461214B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35F903-18BB-E7CA-D617-2B873A0E8226}"/>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462134F8-8487-662E-ABDA-6C3644CEBAC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A8A3BE9-493A-0398-9FA7-01022EFFBAEF}"/>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1640584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72E8-4DFC-CC5F-2859-BC72420DB7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E683E6-BD35-94D5-5109-B2F9BEA1AA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2F083-239E-E6F9-F7EB-4890A76DD835}"/>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5FB254B8-8A44-0311-569E-1639075218F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75200D2-FAC7-135A-6CE7-B5EE9C8607B1}"/>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147972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2A33-7841-9C8B-5395-D25612DF91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437AED-B6AF-5A3C-4384-862D2B9C23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3FBA3C-7C70-35B7-15B1-3931DFBA4063}"/>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E3A05C9F-6E9E-41FB-4E56-2BE8D8B0458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5DA2721-EB16-F14D-2E09-87496835552D}"/>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2376564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4BEF-B7AE-30A9-C298-B077C258C2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EFE4AE-8DE3-6B42-D515-830657186A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BF1CAC-DCD5-2C50-7A2A-3D84C0497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4D5E77-562E-5E2B-BA58-6DAEF15327E3}"/>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6" name="Footer Placeholder 5">
            <a:extLst>
              <a:ext uri="{FF2B5EF4-FFF2-40B4-BE49-F238E27FC236}">
                <a16:creationId xmlns:a16="http://schemas.microsoft.com/office/drawing/2014/main" id="{BC35B3B7-DBD4-62DD-7087-169EA6D3F34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E85FAB1-5132-B0FD-2F84-7F3E26E91632}"/>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2794506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FF44C-DCA3-AA8F-B86B-55FC354B09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7D1D51-95B4-7B17-EF27-935753027B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01288C-3A74-368A-2C1C-E2E8F3C3F3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8720AF-A1D7-7A60-09E3-8B8B3F587F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9889B6-72E2-C245-2B3C-B165FD8EE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24F86B-FBDA-A7B4-4C0E-D8373B18698D}"/>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8" name="Footer Placeholder 7">
            <a:extLst>
              <a:ext uri="{FF2B5EF4-FFF2-40B4-BE49-F238E27FC236}">
                <a16:creationId xmlns:a16="http://schemas.microsoft.com/office/drawing/2014/main" id="{235F3F0E-F070-5FDB-7F4D-8C88B04D204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2A5745D-CB43-A464-508D-317432280A56}"/>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3943532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45C64-DEFE-17DF-0D0D-528B10E942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E136A3-9788-E448-31AE-DDFB982A899D}"/>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4" name="Footer Placeholder 3">
            <a:extLst>
              <a:ext uri="{FF2B5EF4-FFF2-40B4-BE49-F238E27FC236}">
                <a16:creationId xmlns:a16="http://schemas.microsoft.com/office/drawing/2014/main" id="{31329CA5-5A7B-E198-D35C-6771814E680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C064EB22-054C-0963-B31B-E3D52477DA4C}"/>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2944644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2C8A36-91E2-9831-49C2-FFFF537655CC}"/>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3" name="Footer Placeholder 2">
            <a:extLst>
              <a:ext uri="{FF2B5EF4-FFF2-40B4-BE49-F238E27FC236}">
                <a16:creationId xmlns:a16="http://schemas.microsoft.com/office/drawing/2014/main" id="{1286CA9C-8B6C-3850-EF36-35A5E616CC2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D742225D-B9B7-05D7-4747-3C86BE0598CA}"/>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1441666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6CC95-D429-B76E-41C5-2B430E24A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5CB7F0-20C8-A03C-6B91-6D9D96FA78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544AE5-C584-3CCB-FF8E-FCB46F389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A4895F-48B6-D29C-61A4-4AB2CDA591A7}"/>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6" name="Footer Placeholder 5">
            <a:extLst>
              <a:ext uri="{FF2B5EF4-FFF2-40B4-BE49-F238E27FC236}">
                <a16:creationId xmlns:a16="http://schemas.microsoft.com/office/drawing/2014/main" id="{C49D9264-97B4-676B-181F-28094B81A76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3DF3BB2-CD9F-08DB-61AB-6452F2F5EFEE}"/>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3615214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F45B9-BB0F-8A72-2624-0F59E65007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F03554-686F-DB94-55A2-5940AA10D3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FA1C3E16-4AC3-9311-DC5F-342D4797C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D59C6-5755-1E36-C926-0B96D090A18C}"/>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6" name="Footer Placeholder 5">
            <a:extLst>
              <a:ext uri="{FF2B5EF4-FFF2-40B4-BE49-F238E27FC236}">
                <a16:creationId xmlns:a16="http://schemas.microsoft.com/office/drawing/2014/main" id="{39FF6C36-7BD6-8E1E-912C-73C997B1739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A60F036-B8C4-A708-2639-53ABB43D011D}"/>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3390793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8D72-195C-4B0E-A388-4A0F6814CB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BE7B31-EDBB-A168-2A79-19E62B531F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61AF9-DC15-0ECD-59A8-66FFB3374917}"/>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BD7F96B9-E363-BC3C-2A51-D513743DA95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D3A49DA-1DCE-28E4-8B08-487C9F38742B}"/>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808739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9F1425-F9BD-7500-1A10-6F8DD94A13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8FF4BC-D786-407E-A605-0D0DFCE46F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24A85B-1914-AEEC-5787-C063953BBC25}"/>
              </a:ext>
            </a:extLst>
          </p:cNvPr>
          <p:cNvSpPr>
            <a:spLocks noGrp="1"/>
          </p:cNvSpPr>
          <p:nvPr>
            <p:ph type="dt" sz="half" idx="10"/>
          </p:nvPr>
        </p:nvSpPr>
        <p:spPr/>
        <p:txBody>
          <a:body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52201CAA-1DD5-F1FA-900F-4BCEBC89D57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9679738-183F-EC29-113C-42424F9BA494}"/>
              </a:ext>
            </a:extLst>
          </p:cNvPr>
          <p:cNvSpPr>
            <a:spLocks noGrp="1"/>
          </p:cNvSpPr>
          <p:nvPr>
            <p:ph type="sldNum" sz="quarter" idx="12"/>
          </p:nvPr>
        </p:nvSpPr>
        <p:spPr/>
        <p:txBody>
          <a:bodyPr/>
          <a:lstStyle/>
          <a:p>
            <a:fld id="{1AB7466D-CFDE-4507-B093-1BCAC75089E7}" type="slidenum">
              <a:rPr lang="en-IN" smtClean="0"/>
              <a:t>‹#›</a:t>
            </a:fld>
            <a:endParaRPr lang="en-IN" dirty="0"/>
          </a:p>
        </p:txBody>
      </p:sp>
    </p:spTree>
    <p:extLst>
      <p:ext uri="{BB962C8B-B14F-4D97-AF65-F5344CB8AC3E}">
        <p14:creationId xmlns:p14="http://schemas.microsoft.com/office/powerpoint/2010/main" val="323555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B1C228-47A9-47BA-E1FE-F44EAECCD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84C9A7-1512-86BB-E957-D7110EE15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5D83B1-C79A-F974-DA16-A9CEC9DFA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32A42-864C-4206-A66E-BD447810FA93}" type="datetimeFigureOut">
              <a:rPr lang="en-IN" smtClean="0"/>
              <a:t>16-05-2026</a:t>
            </a:fld>
            <a:endParaRPr lang="en-IN" dirty="0"/>
          </a:p>
        </p:txBody>
      </p:sp>
      <p:sp>
        <p:nvSpPr>
          <p:cNvPr id="5" name="Footer Placeholder 4">
            <a:extLst>
              <a:ext uri="{FF2B5EF4-FFF2-40B4-BE49-F238E27FC236}">
                <a16:creationId xmlns:a16="http://schemas.microsoft.com/office/drawing/2014/main" id="{271F5A5C-E51A-C893-FE58-CF550F262C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6F2D869B-E4AE-BEC2-4405-4EEE449C3A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B7466D-CFDE-4507-B093-1BCAC75089E7}" type="slidenum">
              <a:rPr lang="en-IN" smtClean="0"/>
              <a:t>‹#›</a:t>
            </a:fld>
            <a:endParaRPr lang="en-IN" dirty="0"/>
          </a:p>
        </p:txBody>
      </p:sp>
    </p:spTree>
    <p:extLst>
      <p:ext uri="{BB962C8B-B14F-4D97-AF65-F5344CB8AC3E}">
        <p14:creationId xmlns:p14="http://schemas.microsoft.com/office/powerpoint/2010/main" val="2641911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943703-9FB7-413E-E599-1F2038BC2F48}"/>
              </a:ext>
            </a:extLst>
          </p:cNvPr>
          <p:cNvPicPr>
            <a:picLocks noChangeAspect="1"/>
          </p:cNvPicPr>
          <p:nvPr/>
        </p:nvPicPr>
        <p:blipFill>
          <a:blip r:embed="rId2"/>
          <a:stretch>
            <a:fillRect/>
          </a:stretch>
        </p:blipFill>
        <p:spPr>
          <a:xfrm>
            <a:off x="2964907" y="202020"/>
            <a:ext cx="6262186" cy="1956389"/>
          </a:xfrm>
          <a:prstGeom prst="rect">
            <a:avLst/>
          </a:prstGeom>
        </p:spPr>
      </p:pic>
      <p:sp>
        <p:nvSpPr>
          <p:cNvPr id="2" name="Title 1">
            <a:extLst>
              <a:ext uri="{FF2B5EF4-FFF2-40B4-BE49-F238E27FC236}">
                <a16:creationId xmlns:a16="http://schemas.microsoft.com/office/drawing/2014/main" id="{F4FCEA05-B3BA-59CC-53EC-77DEF65C30EC}"/>
              </a:ext>
            </a:extLst>
          </p:cNvPr>
          <p:cNvSpPr>
            <a:spLocks noGrp="1"/>
          </p:cNvSpPr>
          <p:nvPr>
            <p:ph type="ctrTitle"/>
          </p:nvPr>
        </p:nvSpPr>
        <p:spPr>
          <a:xfrm>
            <a:off x="1523999" y="2158410"/>
            <a:ext cx="8672623" cy="786810"/>
          </a:xfrm>
        </p:spPr>
        <p:txBody>
          <a:bodyPr>
            <a:normAutofit/>
          </a:bodyPr>
          <a:lstStyle/>
          <a:p>
            <a:r>
              <a:rPr lang="en-US" sz="3600" b="1" dirty="0">
                <a:latin typeface="Californian FB" panose="0207040306080B030204" pitchFamily="18" charset="0"/>
              </a:rPr>
              <a:t>STUDENT PERFORMANCE ANALYSIS</a:t>
            </a:r>
            <a:endParaRPr lang="en-IN" sz="3600" b="1" dirty="0">
              <a:latin typeface="Californian FB" panose="0207040306080B030204" pitchFamily="18" charset="0"/>
            </a:endParaRPr>
          </a:p>
        </p:txBody>
      </p:sp>
      <p:sp>
        <p:nvSpPr>
          <p:cNvPr id="3" name="Subtitle 2">
            <a:extLst>
              <a:ext uri="{FF2B5EF4-FFF2-40B4-BE49-F238E27FC236}">
                <a16:creationId xmlns:a16="http://schemas.microsoft.com/office/drawing/2014/main" id="{A8B60F8D-89A7-CDB3-B1C1-0CFD25645086}"/>
              </a:ext>
            </a:extLst>
          </p:cNvPr>
          <p:cNvSpPr>
            <a:spLocks noGrp="1"/>
          </p:cNvSpPr>
          <p:nvPr>
            <p:ph type="subTitle" idx="1"/>
          </p:nvPr>
        </p:nvSpPr>
        <p:spPr>
          <a:xfrm>
            <a:off x="1524000" y="3200399"/>
            <a:ext cx="9144000" cy="3359889"/>
          </a:xfrm>
        </p:spPr>
        <p:txBody>
          <a:bodyPr>
            <a:normAutofit/>
          </a:bodyPr>
          <a:lstStyle/>
          <a:p>
            <a:r>
              <a:rPr lang="en-US" sz="2000" dirty="0"/>
              <a:t>COURSE NAME – DATA MODELING AND VISUALIZATION</a:t>
            </a:r>
          </a:p>
          <a:p>
            <a:r>
              <a:rPr lang="en-US" sz="2000" dirty="0"/>
              <a:t>COURSE CODE – E1UA306B</a:t>
            </a:r>
          </a:p>
          <a:p>
            <a:r>
              <a:rPr lang="en-US" sz="2000" dirty="0"/>
              <a:t>PROGRAM NAME – BSC COMPUTER SCIENCE</a:t>
            </a:r>
          </a:p>
          <a:p>
            <a:pPr algn="l"/>
            <a:endParaRPr lang="en-US" sz="2000" dirty="0"/>
          </a:p>
          <a:p>
            <a:pPr algn="l"/>
            <a:r>
              <a:rPr lang="en-US" dirty="0"/>
              <a:t>SUBMITTED BY</a:t>
            </a:r>
          </a:p>
          <a:p>
            <a:pPr algn="l"/>
            <a:r>
              <a:rPr lang="en-US" sz="2000" dirty="0"/>
              <a:t>GROUP MEMBER 1 – NISHA (24SCSE1550014)</a:t>
            </a:r>
          </a:p>
          <a:p>
            <a:pPr algn="l"/>
            <a:r>
              <a:rPr lang="en-US" sz="2000" dirty="0"/>
              <a:t>GROUP MEMBER 2 – SANYA (24SCSE1550016)</a:t>
            </a:r>
          </a:p>
          <a:p>
            <a:pPr algn="l"/>
            <a:endParaRPr lang="en-US" sz="2000" dirty="0"/>
          </a:p>
        </p:txBody>
      </p:sp>
    </p:spTree>
    <p:extLst>
      <p:ext uri="{BB962C8B-B14F-4D97-AF65-F5344CB8AC3E}">
        <p14:creationId xmlns:p14="http://schemas.microsoft.com/office/powerpoint/2010/main" val="156993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EF669B3-B9E8-7053-BC04-09B8EB5BC00B}"/>
              </a:ext>
            </a:extLst>
          </p:cNvPr>
          <p:cNvSpPr txBox="1"/>
          <p:nvPr/>
        </p:nvSpPr>
        <p:spPr>
          <a:xfrm>
            <a:off x="818707" y="223284"/>
            <a:ext cx="9601200" cy="6370975"/>
          </a:xfrm>
          <a:prstGeom prst="rect">
            <a:avLst/>
          </a:prstGeom>
          <a:noFill/>
        </p:spPr>
        <p:txBody>
          <a:bodyPr wrap="square">
            <a:spAutoFit/>
          </a:bodyPr>
          <a:lstStyle/>
          <a:p>
            <a:pPr>
              <a:buNone/>
            </a:pPr>
            <a:r>
              <a:rPr lang="en-US" sz="2400" b="1" dirty="0"/>
              <a:t>INTRODUCTION</a:t>
            </a:r>
          </a:p>
          <a:p>
            <a:pPr>
              <a:buNone/>
            </a:pPr>
            <a:r>
              <a:rPr lang="en-US" sz="2400" dirty="0"/>
              <a:t>In today’s digital world, large amounts of educational data are generated every day. However, raw data in the form of tables and numbers is often difficult to understand. Data visualization plays a major role in converting this raw data into meaningful graphical forms such as bar charts and line charts.</a:t>
            </a:r>
          </a:p>
          <a:p>
            <a:pPr>
              <a:buNone/>
            </a:pPr>
            <a:r>
              <a:rPr lang="en-US" sz="2400" dirty="0"/>
              <a:t>Student performance analysis helps teachers and institutions evaluate academic progress, identify weak students, and improve teaching strategies. This project uses Python and Matplotlib to analyze student marks and visualize them effectively.</a:t>
            </a:r>
          </a:p>
          <a:p>
            <a:pPr>
              <a:buNone/>
            </a:pPr>
            <a:endParaRPr lang="en-US" sz="2400" dirty="0"/>
          </a:p>
          <a:p>
            <a:pPr>
              <a:buNone/>
            </a:pPr>
            <a:r>
              <a:rPr lang="en-US" sz="2400" b="1" dirty="0"/>
              <a:t>3. PROBLEM STATEMENT</a:t>
            </a:r>
          </a:p>
          <a:p>
            <a:pPr>
              <a:buNone/>
            </a:pPr>
            <a:r>
              <a:rPr lang="en-US" sz="2400" dirty="0"/>
              <a:t>Educational institutions store marks of students, but they are usually not analyzed visually. It becomes difficult to compare students, subjects, and overall performance trends.</a:t>
            </a:r>
            <a:br>
              <a:rPr lang="en-US" sz="2400" dirty="0"/>
            </a:br>
            <a:r>
              <a:rPr lang="en-US" sz="2400" dirty="0"/>
              <a:t>Hence, there is a need to design a system that can analyze student marks and represent them using bar graphs and charts for easy understanding.</a:t>
            </a:r>
          </a:p>
        </p:txBody>
      </p:sp>
    </p:spTree>
    <p:extLst>
      <p:ext uri="{BB962C8B-B14F-4D97-AF65-F5344CB8AC3E}">
        <p14:creationId xmlns:p14="http://schemas.microsoft.com/office/powerpoint/2010/main" val="1120724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7423A-CEEA-2EF6-91AA-49FE369A9B4B}"/>
              </a:ext>
            </a:extLst>
          </p:cNvPr>
          <p:cNvSpPr>
            <a:spLocks noGrp="1"/>
          </p:cNvSpPr>
          <p:nvPr>
            <p:ph type="ctrTitle"/>
          </p:nvPr>
        </p:nvSpPr>
        <p:spPr>
          <a:xfrm>
            <a:off x="914400" y="-446568"/>
            <a:ext cx="10366744" cy="446567"/>
          </a:xfrm>
        </p:spPr>
        <p:txBody>
          <a:bodyPr>
            <a:normAutofit fontScale="90000"/>
          </a:bodyPr>
          <a:lstStyle/>
          <a:p>
            <a:endParaRPr lang="en-IN" dirty="0"/>
          </a:p>
        </p:txBody>
      </p:sp>
      <p:sp>
        <p:nvSpPr>
          <p:cNvPr id="3" name="Subtitle 2">
            <a:extLst>
              <a:ext uri="{FF2B5EF4-FFF2-40B4-BE49-F238E27FC236}">
                <a16:creationId xmlns:a16="http://schemas.microsoft.com/office/drawing/2014/main" id="{8DED1DEB-154D-D939-611F-3330FD0AB6D4}"/>
              </a:ext>
            </a:extLst>
          </p:cNvPr>
          <p:cNvSpPr>
            <a:spLocks noGrp="1"/>
          </p:cNvSpPr>
          <p:nvPr>
            <p:ph type="subTitle" idx="1"/>
          </p:nvPr>
        </p:nvSpPr>
        <p:spPr>
          <a:xfrm>
            <a:off x="659219" y="489098"/>
            <a:ext cx="10008781" cy="5805376"/>
          </a:xfrm>
        </p:spPr>
        <p:txBody>
          <a:bodyPr>
            <a:normAutofit fontScale="92500" lnSpcReduction="20000"/>
          </a:bodyPr>
          <a:lstStyle/>
          <a:p>
            <a:pPr algn="l"/>
            <a:r>
              <a:rPr lang="en-US" sz="2600" b="1" dirty="0"/>
              <a:t>OBJECTIVES</a:t>
            </a:r>
          </a:p>
          <a:p>
            <a:pPr algn="l"/>
            <a:r>
              <a:rPr lang="en-US" sz="2600" dirty="0"/>
              <a:t>The main objectives of this project are:</a:t>
            </a:r>
          </a:p>
          <a:p>
            <a:pPr algn="l"/>
            <a:r>
              <a:rPr lang="en-US" sz="2600" dirty="0"/>
              <a:t>1 To analyze student marks in multiple subjects</a:t>
            </a:r>
          </a:p>
          <a:p>
            <a:pPr algn="l"/>
            <a:r>
              <a:rPr lang="en-US" sz="2600" dirty="0"/>
              <a:t>2 To visualize data using bar graphs and charts</a:t>
            </a:r>
          </a:p>
          <a:p>
            <a:pPr algn="l"/>
            <a:r>
              <a:rPr lang="en-US" sz="2600" dirty="0"/>
              <a:t>3 To calculate average student performance</a:t>
            </a:r>
          </a:p>
          <a:p>
            <a:pPr algn="l"/>
            <a:r>
              <a:rPr lang="en-US" sz="2600" dirty="0"/>
              <a:t>4 To compare subject-wise performance</a:t>
            </a:r>
          </a:p>
          <a:p>
            <a:pPr algn="l"/>
            <a:r>
              <a:rPr lang="en-US" sz="2600" dirty="0"/>
              <a:t>5 To build a basic student performance analysis model</a:t>
            </a:r>
          </a:p>
          <a:p>
            <a:pPr algn="l"/>
            <a:endParaRPr lang="en-US" dirty="0"/>
          </a:p>
          <a:p>
            <a:pPr algn="l"/>
            <a:r>
              <a:rPr lang="en-US" sz="2600" b="1" dirty="0"/>
              <a:t>METHODOLOGY</a:t>
            </a:r>
          </a:p>
          <a:p>
            <a:pPr algn="l"/>
            <a:r>
              <a:rPr lang="en-US" sz="2600" dirty="0"/>
              <a:t>1 The project is implemented using the following steps:</a:t>
            </a:r>
          </a:p>
          <a:p>
            <a:pPr algn="l"/>
            <a:r>
              <a:rPr lang="en-US" sz="2600" dirty="0"/>
              <a:t>2 Data collection of student marks</a:t>
            </a:r>
          </a:p>
          <a:p>
            <a:pPr algn="l"/>
            <a:r>
              <a:rPr lang="en-US" sz="2600" dirty="0"/>
              <a:t>3 Storing data using arrays/lists</a:t>
            </a:r>
          </a:p>
          <a:p>
            <a:pPr algn="l"/>
            <a:r>
              <a:rPr lang="en-US" sz="2600" dirty="0"/>
              <a:t>4 Data processing using NumPy</a:t>
            </a:r>
          </a:p>
          <a:p>
            <a:pPr algn="l"/>
            <a:r>
              <a:rPr lang="en-US" sz="2600" dirty="0"/>
              <a:t>5 Visualization using Matplotlib</a:t>
            </a:r>
          </a:p>
          <a:p>
            <a:pPr algn="l"/>
            <a:r>
              <a:rPr lang="en-US" sz="2600" dirty="0"/>
              <a:t>6 Analysis of graphs and interpretation</a:t>
            </a:r>
          </a:p>
          <a:p>
            <a:pPr algn="l"/>
            <a:endParaRPr lang="en-US" sz="2600" dirty="0"/>
          </a:p>
          <a:p>
            <a:pPr algn="l"/>
            <a:endParaRPr lang="en-IN" dirty="0"/>
          </a:p>
        </p:txBody>
      </p:sp>
    </p:spTree>
    <p:extLst>
      <p:ext uri="{BB962C8B-B14F-4D97-AF65-F5344CB8AC3E}">
        <p14:creationId xmlns:p14="http://schemas.microsoft.com/office/powerpoint/2010/main" val="387912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A3A39D-8565-1E08-A71A-DAFB04E6BDF4}"/>
              </a:ext>
            </a:extLst>
          </p:cNvPr>
          <p:cNvSpPr>
            <a:spLocks noGrp="1"/>
          </p:cNvSpPr>
          <p:nvPr>
            <p:ph type="subTitle" idx="1"/>
          </p:nvPr>
        </p:nvSpPr>
        <p:spPr>
          <a:xfrm>
            <a:off x="956929" y="457200"/>
            <a:ext cx="10515601" cy="5837274"/>
          </a:xfrm>
        </p:spPr>
        <p:txBody>
          <a:bodyPr>
            <a:normAutofit lnSpcReduction="10000"/>
          </a:bodyPr>
          <a:lstStyle/>
          <a:p>
            <a:pPr algn="l"/>
            <a:r>
              <a:rPr lang="en-IN" b="1" dirty="0"/>
              <a:t>SOFTWARE AND HARDWARE REQUIREMENTS</a:t>
            </a:r>
          </a:p>
          <a:p>
            <a:pPr marL="342900" indent="-342900" algn="l">
              <a:buFont typeface="Arial" panose="020B0604020202020204" pitchFamily="34" charset="0"/>
              <a:buChar char="•"/>
            </a:pPr>
            <a:r>
              <a:rPr lang="en-IN" b="1" dirty="0"/>
              <a:t>Software Requirements</a:t>
            </a:r>
          </a:p>
          <a:p>
            <a:pPr algn="l"/>
            <a:r>
              <a:rPr lang="en-IN" dirty="0"/>
              <a:t>1 Operating System: Windows / Linux / Mac</a:t>
            </a:r>
          </a:p>
          <a:p>
            <a:pPr algn="l"/>
            <a:r>
              <a:rPr lang="en-IN" dirty="0"/>
              <a:t>2 Programming Language: Python 3</a:t>
            </a:r>
          </a:p>
          <a:p>
            <a:pPr algn="l"/>
            <a:r>
              <a:rPr lang="en-IN" dirty="0"/>
              <a:t>3 Tools: </a:t>
            </a:r>
            <a:r>
              <a:rPr lang="en-IN" dirty="0" err="1"/>
              <a:t>Jupyter</a:t>
            </a:r>
            <a:r>
              <a:rPr lang="en-IN" dirty="0"/>
              <a:t> Notebook / VS Code</a:t>
            </a:r>
          </a:p>
          <a:p>
            <a:pPr algn="l"/>
            <a:r>
              <a:rPr lang="en-IN" dirty="0"/>
              <a:t>4 Libraries:</a:t>
            </a:r>
          </a:p>
          <a:p>
            <a:pPr lvl="1" algn="l"/>
            <a:r>
              <a:rPr lang="en-IN" sz="2400" dirty="0"/>
              <a:t>Matplotlib</a:t>
            </a:r>
          </a:p>
          <a:p>
            <a:pPr lvl="1" algn="l"/>
            <a:r>
              <a:rPr lang="en-IN" sz="2400" dirty="0"/>
              <a:t>NumPy</a:t>
            </a:r>
          </a:p>
          <a:p>
            <a:pPr lvl="1" algn="l"/>
            <a:r>
              <a:rPr lang="en-IN" sz="2400" dirty="0"/>
              <a:t>Pandas (optional)</a:t>
            </a:r>
          </a:p>
          <a:p>
            <a:pPr marL="342900" indent="-342900" algn="l">
              <a:buFont typeface="Arial" panose="020B0604020202020204" pitchFamily="34" charset="0"/>
              <a:buChar char="•"/>
            </a:pPr>
            <a:r>
              <a:rPr lang="en-IN" b="1" dirty="0"/>
              <a:t>Hardware Requirements</a:t>
            </a:r>
          </a:p>
          <a:p>
            <a:pPr algn="l"/>
            <a:r>
              <a:rPr lang="en-IN" dirty="0"/>
              <a:t>1 Minimum 4 GB RAM</a:t>
            </a:r>
          </a:p>
          <a:p>
            <a:pPr algn="l"/>
            <a:r>
              <a:rPr lang="en-IN" dirty="0"/>
              <a:t>2 Intel i3 or above</a:t>
            </a:r>
          </a:p>
          <a:p>
            <a:pPr algn="l"/>
            <a:r>
              <a:rPr lang="en-IN" dirty="0"/>
              <a:t>3 100 GB hard disk</a:t>
            </a:r>
          </a:p>
          <a:p>
            <a:pPr algn="l"/>
            <a:r>
              <a:rPr lang="en-IN" dirty="0"/>
              <a:t>4 Standard keyboard and mouse</a:t>
            </a:r>
          </a:p>
          <a:p>
            <a:pPr algn="l"/>
            <a:endParaRPr lang="en-IN" dirty="0"/>
          </a:p>
        </p:txBody>
      </p:sp>
    </p:spTree>
    <p:extLst>
      <p:ext uri="{BB962C8B-B14F-4D97-AF65-F5344CB8AC3E}">
        <p14:creationId xmlns:p14="http://schemas.microsoft.com/office/powerpoint/2010/main" val="131502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9DC6F70-2D37-0C44-24A7-E17CBCACDDE4}"/>
              </a:ext>
            </a:extLst>
          </p:cNvPr>
          <p:cNvSpPr>
            <a:spLocks noGrp="1"/>
          </p:cNvSpPr>
          <p:nvPr>
            <p:ph type="subTitle" idx="1"/>
          </p:nvPr>
        </p:nvSpPr>
        <p:spPr>
          <a:xfrm>
            <a:off x="754911" y="398721"/>
            <a:ext cx="10409275" cy="6182832"/>
          </a:xfrm>
        </p:spPr>
        <p:txBody>
          <a:bodyPr>
            <a:normAutofit fontScale="77500" lnSpcReduction="20000"/>
          </a:bodyPr>
          <a:lstStyle/>
          <a:p>
            <a:pPr algn="l"/>
            <a:r>
              <a:rPr lang="en-US" sz="2800" b="1" dirty="0"/>
              <a:t>DATASET DESCRIPTION</a:t>
            </a:r>
          </a:p>
          <a:p>
            <a:pPr algn="l"/>
            <a:r>
              <a:rPr lang="en-US" sz="2800" dirty="0"/>
              <a:t>The dataset consists of marks of 5 students in 3 subjects:</a:t>
            </a:r>
          </a:p>
          <a:p>
            <a:pPr marL="457200" indent="-457200" algn="l">
              <a:buFont typeface="Arial" panose="020B0604020202020204" pitchFamily="34" charset="0"/>
              <a:buChar char="•"/>
            </a:pPr>
            <a:r>
              <a:rPr lang="en-US" sz="2800" dirty="0"/>
              <a:t>Mathematics</a:t>
            </a:r>
          </a:p>
          <a:p>
            <a:pPr marL="457200" indent="-457200" algn="l">
              <a:buFont typeface="Arial" panose="020B0604020202020204" pitchFamily="34" charset="0"/>
              <a:buChar char="•"/>
            </a:pPr>
            <a:r>
              <a:rPr lang="en-US" sz="2800" dirty="0"/>
              <a:t>Science</a:t>
            </a:r>
          </a:p>
          <a:p>
            <a:pPr marL="457200" indent="-457200" algn="l">
              <a:buFont typeface="Arial" panose="020B0604020202020204" pitchFamily="34" charset="0"/>
              <a:buChar char="•"/>
            </a:pPr>
            <a:r>
              <a:rPr lang="en-US" sz="2800" dirty="0"/>
              <a:t>English</a:t>
            </a:r>
          </a:p>
          <a:p>
            <a:pPr algn="l"/>
            <a:r>
              <a:rPr lang="en-US" sz="2800" dirty="0"/>
              <a:t>This dataset is used to visualize subject-wise and average performance.</a:t>
            </a:r>
          </a:p>
          <a:p>
            <a:pPr algn="l"/>
            <a:endParaRPr lang="en-US" sz="2800" b="1" dirty="0"/>
          </a:p>
          <a:p>
            <a:pPr algn="l"/>
            <a:r>
              <a:rPr lang="en-US" sz="2800" b="1" dirty="0"/>
              <a:t> SYSTEM DESIGN</a:t>
            </a:r>
          </a:p>
          <a:p>
            <a:pPr algn="l"/>
            <a:r>
              <a:rPr lang="en-US" sz="2800" b="1" dirty="0"/>
              <a:t>Input:</a:t>
            </a:r>
          </a:p>
          <a:p>
            <a:pPr marL="457200" indent="-457200" algn="l">
              <a:buFont typeface="Arial" panose="020B0604020202020204" pitchFamily="34" charset="0"/>
              <a:buChar char="•"/>
            </a:pPr>
            <a:r>
              <a:rPr lang="en-US" sz="2800" dirty="0"/>
              <a:t>Student marks</a:t>
            </a:r>
          </a:p>
          <a:p>
            <a:pPr algn="l"/>
            <a:r>
              <a:rPr lang="en-US" sz="2800" b="1" dirty="0"/>
              <a:t>Process:</a:t>
            </a:r>
          </a:p>
          <a:p>
            <a:pPr marL="457200" indent="-457200" algn="l">
              <a:buFont typeface="Arial" panose="020B0604020202020204" pitchFamily="34" charset="0"/>
              <a:buChar char="•"/>
            </a:pPr>
            <a:r>
              <a:rPr lang="en-US" sz="2800" dirty="0"/>
              <a:t>Store data</a:t>
            </a:r>
          </a:p>
          <a:p>
            <a:pPr marL="457200" indent="-457200" algn="l">
              <a:buFont typeface="Arial" panose="020B0604020202020204" pitchFamily="34" charset="0"/>
              <a:buChar char="•"/>
            </a:pPr>
            <a:r>
              <a:rPr lang="en-US" sz="2800" dirty="0"/>
              <a:t>Calculate averages</a:t>
            </a:r>
          </a:p>
          <a:p>
            <a:pPr marL="457200" indent="-457200" algn="l">
              <a:buFont typeface="Arial" panose="020B0604020202020204" pitchFamily="34" charset="0"/>
              <a:buChar char="•"/>
            </a:pPr>
            <a:r>
              <a:rPr lang="en-US" sz="2800" dirty="0"/>
              <a:t>Generate graphs</a:t>
            </a:r>
          </a:p>
          <a:p>
            <a:pPr algn="l"/>
            <a:r>
              <a:rPr lang="en-US" sz="2800" b="1" dirty="0"/>
              <a:t>Output:</a:t>
            </a:r>
          </a:p>
          <a:p>
            <a:pPr marL="457200" indent="-457200" algn="l">
              <a:buFont typeface="Arial" panose="020B0604020202020204" pitchFamily="34" charset="0"/>
              <a:buChar char="•"/>
            </a:pPr>
            <a:r>
              <a:rPr lang="en-US" sz="2800" dirty="0"/>
              <a:t>Bar graph of subject-wise marks</a:t>
            </a:r>
          </a:p>
          <a:p>
            <a:pPr marL="457200" indent="-457200" algn="l">
              <a:buFont typeface="Arial" panose="020B0604020202020204" pitchFamily="34" charset="0"/>
              <a:buChar char="•"/>
            </a:pPr>
            <a:r>
              <a:rPr lang="en-US" sz="2800" dirty="0"/>
              <a:t>Line chart of average marks</a:t>
            </a:r>
          </a:p>
          <a:p>
            <a:pPr algn="l"/>
            <a:endParaRPr lang="en-IN" dirty="0"/>
          </a:p>
        </p:txBody>
      </p:sp>
    </p:spTree>
    <p:extLst>
      <p:ext uri="{BB962C8B-B14F-4D97-AF65-F5344CB8AC3E}">
        <p14:creationId xmlns:p14="http://schemas.microsoft.com/office/powerpoint/2010/main" val="197851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8D2C25-B9C8-71E0-3597-06B5CE03DA8C}"/>
              </a:ext>
            </a:extLst>
          </p:cNvPr>
          <p:cNvPicPr>
            <a:picLocks noChangeAspect="1"/>
          </p:cNvPicPr>
          <p:nvPr/>
        </p:nvPicPr>
        <p:blipFill>
          <a:blip r:embed="rId2"/>
          <a:stretch>
            <a:fillRect/>
          </a:stretch>
        </p:blipFill>
        <p:spPr>
          <a:xfrm>
            <a:off x="691872" y="296090"/>
            <a:ext cx="5239019" cy="3841947"/>
          </a:xfrm>
          <a:prstGeom prst="rect">
            <a:avLst/>
          </a:prstGeom>
        </p:spPr>
      </p:pic>
      <p:pic>
        <p:nvPicPr>
          <p:cNvPr id="9" name="Picture 8">
            <a:extLst>
              <a:ext uri="{FF2B5EF4-FFF2-40B4-BE49-F238E27FC236}">
                <a16:creationId xmlns:a16="http://schemas.microsoft.com/office/drawing/2014/main" id="{6624EF51-16B1-C8B1-1FFF-287ECF445E19}"/>
              </a:ext>
            </a:extLst>
          </p:cNvPr>
          <p:cNvPicPr>
            <a:picLocks noChangeAspect="1"/>
          </p:cNvPicPr>
          <p:nvPr/>
        </p:nvPicPr>
        <p:blipFill>
          <a:blip r:embed="rId3"/>
          <a:stretch>
            <a:fillRect/>
          </a:stretch>
        </p:blipFill>
        <p:spPr>
          <a:xfrm>
            <a:off x="756372" y="4138037"/>
            <a:ext cx="5174519" cy="2334463"/>
          </a:xfrm>
          <a:prstGeom prst="rect">
            <a:avLst/>
          </a:prstGeom>
        </p:spPr>
      </p:pic>
      <p:pic>
        <p:nvPicPr>
          <p:cNvPr id="11" name="Picture 10">
            <a:extLst>
              <a:ext uri="{FF2B5EF4-FFF2-40B4-BE49-F238E27FC236}">
                <a16:creationId xmlns:a16="http://schemas.microsoft.com/office/drawing/2014/main" id="{E15B029C-9578-0F61-40CF-67CD5B656ECA}"/>
              </a:ext>
            </a:extLst>
          </p:cNvPr>
          <p:cNvPicPr>
            <a:picLocks noChangeAspect="1"/>
          </p:cNvPicPr>
          <p:nvPr/>
        </p:nvPicPr>
        <p:blipFill>
          <a:blip r:embed="rId4"/>
          <a:stretch>
            <a:fillRect/>
          </a:stretch>
        </p:blipFill>
        <p:spPr>
          <a:xfrm>
            <a:off x="6261111" y="296090"/>
            <a:ext cx="4993758" cy="2362050"/>
          </a:xfrm>
          <a:prstGeom prst="rect">
            <a:avLst/>
          </a:prstGeom>
        </p:spPr>
      </p:pic>
    </p:spTree>
    <p:extLst>
      <p:ext uri="{BB962C8B-B14F-4D97-AF65-F5344CB8AC3E}">
        <p14:creationId xmlns:p14="http://schemas.microsoft.com/office/powerpoint/2010/main" val="13436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75A0FB2-98A9-BBAB-5547-53C8EC1C944E}"/>
              </a:ext>
            </a:extLst>
          </p:cNvPr>
          <p:cNvSpPr>
            <a:spLocks noGrp="1"/>
          </p:cNvSpPr>
          <p:nvPr>
            <p:ph type="subTitle" idx="1"/>
          </p:nvPr>
        </p:nvSpPr>
        <p:spPr>
          <a:xfrm>
            <a:off x="595423" y="255181"/>
            <a:ext cx="10845210" cy="2030819"/>
          </a:xfrm>
        </p:spPr>
        <p:txBody>
          <a:bodyPr>
            <a:normAutofit/>
          </a:bodyPr>
          <a:lstStyle/>
          <a:p>
            <a:pPr algn="l"/>
            <a:r>
              <a:rPr lang="en-US" b="1" dirty="0"/>
              <a:t>RESULTS AND OUTPUT</a:t>
            </a:r>
          </a:p>
          <a:p>
            <a:pPr marL="342900" indent="-342900" algn="l">
              <a:buFont typeface="Arial" panose="020B0604020202020204" pitchFamily="34" charset="0"/>
              <a:buChar char="•"/>
            </a:pPr>
            <a:r>
              <a:rPr lang="en-US" dirty="0"/>
              <a:t>The system generates:</a:t>
            </a:r>
          </a:p>
          <a:p>
            <a:pPr marL="342900" indent="-342900" algn="l">
              <a:buFont typeface="Arial" panose="020B0604020202020204" pitchFamily="34" charset="0"/>
              <a:buChar char="•"/>
            </a:pPr>
            <a:r>
              <a:rPr lang="en-US" dirty="0"/>
              <a:t>Bar chart showing performance in Math, Science, and English</a:t>
            </a:r>
          </a:p>
          <a:p>
            <a:pPr marL="342900" indent="-342900" algn="l">
              <a:buFont typeface="Arial" panose="020B0604020202020204" pitchFamily="34" charset="0"/>
              <a:buChar char="•"/>
            </a:pPr>
            <a:r>
              <a:rPr lang="en-US" dirty="0"/>
              <a:t>Line chart showing average marks of students</a:t>
            </a:r>
          </a:p>
        </p:txBody>
      </p:sp>
      <p:pic>
        <p:nvPicPr>
          <p:cNvPr id="7" name="Picture 6">
            <a:extLst>
              <a:ext uri="{FF2B5EF4-FFF2-40B4-BE49-F238E27FC236}">
                <a16:creationId xmlns:a16="http://schemas.microsoft.com/office/drawing/2014/main" id="{8F86C34C-6DE1-ECDB-6AFE-8031F3049EC6}"/>
              </a:ext>
            </a:extLst>
          </p:cNvPr>
          <p:cNvPicPr>
            <a:picLocks noChangeAspect="1"/>
          </p:cNvPicPr>
          <p:nvPr/>
        </p:nvPicPr>
        <p:blipFill>
          <a:blip r:embed="rId2"/>
          <a:stretch>
            <a:fillRect/>
          </a:stretch>
        </p:blipFill>
        <p:spPr>
          <a:xfrm>
            <a:off x="2622698" y="2200940"/>
            <a:ext cx="7584559" cy="4136065"/>
          </a:xfrm>
          <a:prstGeom prst="rect">
            <a:avLst/>
          </a:prstGeom>
        </p:spPr>
      </p:pic>
    </p:spTree>
    <p:extLst>
      <p:ext uri="{BB962C8B-B14F-4D97-AF65-F5344CB8AC3E}">
        <p14:creationId xmlns:p14="http://schemas.microsoft.com/office/powerpoint/2010/main" val="3236516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A03B203-1C1C-4936-D21A-F53BE9BE896A}"/>
              </a:ext>
            </a:extLst>
          </p:cNvPr>
          <p:cNvSpPr>
            <a:spLocks noGrp="1"/>
          </p:cNvSpPr>
          <p:nvPr>
            <p:ph type="subTitle" idx="1"/>
          </p:nvPr>
        </p:nvSpPr>
        <p:spPr>
          <a:xfrm>
            <a:off x="1010093" y="4242389"/>
            <a:ext cx="10047767" cy="1881963"/>
          </a:xfrm>
        </p:spPr>
        <p:txBody>
          <a:bodyPr/>
          <a:lstStyle/>
          <a:p>
            <a:pPr algn="l"/>
            <a:r>
              <a:rPr lang="en-US" dirty="0"/>
              <a:t>These outputs help in identifying:</a:t>
            </a:r>
          </a:p>
          <a:p>
            <a:pPr marL="342900" indent="-342900" algn="l">
              <a:buFont typeface="Arial" panose="020B0604020202020204" pitchFamily="34" charset="0"/>
              <a:buChar char="•"/>
            </a:pPr>
            <a:r>
              <a:rPr lang="en-US" dirty="0"/>
              <a:t>Best performing students</a:t>
            </a:r>
          </a:p>
          <a:p>
            <a:pPr marL="342900" indent="-342900" algn="l">
              <a:buFont typeface="Arial" panose="020B0604020202020204" pitchFamily="34" charset="0"/>
              <a:buChar char="•"/>
            </a:pPr>
            <a:r>
              <a:rPr lang="en-US" dirty="0"/>
              <a:t>Weak subjects</a:t>
            </a:r>
          </a:p>
          <a:p>
            <a:pPr marL="342900" indent="-342900" algn="l">
              <a:buFont typeface="Arial" panose="020B0604020202020204" pitchFamily="34" charset="0"/>
              <a:buChar char="•"/>
            </a:pPr>
            <a:r>
              <a:rPr lang="en-US" dirty="0"/>
              <a:t>Overall academic trends</a:t>
            </a:r>
          </a:p>
          <a:p>
            <a:pPr algn="l"/>
            <a:endParaRPr lang="en-IN" dirty="0"/>
          </a:p>
        </p:txBody>
      </p:sp>
      <p:pic>
        <p:nvPicPr>
          <p:cNvPr id="5" name="Picture 4">
            <a:extLst>
              <a:ext uri="{FF2B5EF4-FFF2-40B4-BE49-F238E27FC236}">
                <a16:creationId xmlns:a16="http://schemas.microsoft.com/office/drawing/2014/main" id="{F17375F0-B33B-BB07-584E-128BB80B5F3B}"/>
              </a:ext>
            </a:extLst>
          </p:cNvPr>
          <p:cNvPicPr>
            <a:picLocks noChangeAspect="1"/>
          </p:cNvPicPr>
          <p:nvPr/>
        </p:nvPicPr>
        <p:blipFill>
          <a:blip r:embed="rId2"/>
          <a:stretch>
            <a:fillRect/>
          </a:stretch>
        </p:blipFill>
        <p:spPr>
          <a:xfrm>
            <a:off x="2966482" y="376462"/>
            <a:ext cx="6071191" cy="3791501"/>
          </a:xfrm>
          <a:prstGeom prst="rect">
            <a:avLst/>
          </a:prstGeom>
        </p:spPr>
      </p:pic>
    </p:spTree>
    <p:extLst>
      <p:ext uri="{BB962C8B-B14F-4D97-AF65-F5344CB8AC3E}">
        <p14:creationId xmlns:p14="http://schemas.microsoft.com/office/powerpoint/2010/main" val="519470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43432F1-A01D-BF2B-3076-D154007D9E63}"/>
              </a:ext>
            </a:extLst>
          </p:cNvPr>
          <p:cNvSpPr>
            <a:spLocks noGrp="1"/>
          </p:cNvSpPr>
          <p:nvPr>
            <p:ph type="subTitle" idx="1"/>
          </p:nvPr>
        </p:nvSpPr>
        <p:spPr>
          <a:xfrm>
            <a:off x="701749" y="584791"/>
            <a:ext cx="10558130" cy="5762845"/>
          </a:xfrm>
        </p:spPr>
        <p:txBody>
          <a:bodyPr/>
          <a:lstStyle/>
          <a:p>
            <a:pPr algn="l"/>
            <a:r>
              <a:rPr lang="en-US" b="1" dirty="0"/>
              <a:t>PERFORMANCE ANALYSIS</a:t>
            </a:r>
          </a:p>
          <a:p>
            <a:pPr algn="l"/>
            <a:r>
              <a:rPr lang="en-US" dirty="0"/>
              <a:t>The model calculates:</a:t>
            </a:r>
          </a:p>
          <a:p>
            <a:pPr marL="342900" indent="-342900" algn="l">
              <a:buFont typeface="Arial" panose="020B0604020202020204" pitchFamily="34" charset="0"/>
              <a:buChar char="•"/>
            </a:pPr>
            <a:r>
              <a:rPr lang="en-US" dirty="0"/>
              <a:t>Average marks of each student</a:t>
            </a:r>
          </a:p>
          <a:p>
            <a:pPr marL="342900" indent="-342900" algn="l">
              <a:buFont typeface="Arial" panose="020B0604020202020204" pitchFamily="34" charset="0"/>
              <a:buChar char="•"/>
            </a:pPr>
            <a:r>
              <a:rPr lang="en-US" dirty="0"/>
              <a:t>Comparison between students</a:t>
            </a:r>
          </a:p>
          <a:p>
            <a:pPr marL="342900" indent="-342900" algn="l">
              <a:buFont typeface="Arial" panose="020B0604020202020204" pitchFamily="34" charset="0"/>
              <a:buChar char="•"/>
            </a:pPr>
            <a:r>
              <a:rPr lang="en-US" dirty="0"/>
              <a:t>Performance patterns from graphs</a:t>
            </a:r>
          </a:p>
          <a:p>
            <a:pPr algn="l"/>
            <a:r>
              <a:rPr lang="en-US" dirty="0"/>
              <a:t>This basic model can be further enhanced for prediction and classification.</a:t>
            </a:r>
          </a:p>
          <a:p>
            <a:pPr algn="l"/>
            <a:endParaRPr lang="en-US" dirty="0"/>
          </a:p>
          <a:p>
            <a:pPr algn="l"/>
            <a:r>
              <a:rPr lang="en-US" b="1" dirty="0"/>
              <a:t>LIMITATIONS</a:t>
            </a:r>
          </a:p>
          <a:p>
            <a:pPr marL="342900" indent="-342900" algn="l">
              <a:buFont typeface="Arial" panose="020B0604020202020204" pitchFamily="34" charset="0"/>
              <a:buChar char="•"/>
            </a:pPr>
            <a:r>
              <a:rPr lang="en-US" dirty="0"/>
              <a:t>Small dataset</a:t>
            </a:r>
          </a:p>
          <a:p>
            <a:pPr marL="342900" indent="-342900" algn="l">
              <a:buFont typeface="Arial" panose="020B0604020202020204" pitchFamily="34" charset="0"/>
              <a:buChar char="•"/>
            </a:pPr>
            <a:r>
              <a:rPr lang="en-US" dirty="0"/>
              <a:t>Manual data entry</a:t>
            </a:r>
          </a:p>
          <a:p>
            <a:pPr marL="342900" indent="-342900" algn="l">
              <a:buFont typeface="Arial" panose="020B0604020202020204" pitchFamily="34" charset="0"/>
              <a:buChar char="•"/>
            </a:pPr>
            <a:r>
              <a:rPr lang="en-US" dirty="0"/>
              <a:t>No real-time updates</a:t>
            </a:r>
          </a:p>
          <a:p>
            <a:pPr marL="342900" indent="-342900" algn="l">
              <a:buFont typeface="Arial" panose="020B0604020202020204" pitchFamily="34" charset="0"/>
              <a:buChar char="•"/>
            </a:pPr>
            <a:r>
              <a:rPr lang="en-US" dirty="0"/>
              <a:t>No advanced prediction model</a:t>
            </a:r>
          </a:p>
          <a:p>
            <a:pPr algn="l"/>
            <a:endParaRPr lang="en-US" dirty="0"/>
          </a:p>
        </p:txBody>
      </p:sp>
    </p:spTree>
    <p:extLst>
      <p:ext uri="{BB962C8B-B14F-4D97-AF65-F5344CB8AC3E}">
        <p14:creationId xmlns:p14="http://schemas.microsoft.com/office/powerpoint/2010/main" val="31414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632031A-E9F2-057F-AEBB-6A929D198A47}"/>
              </a:ext>
            </a:extLst>
          </p:cNvPr>
          <p:cNvSpPr>
            <a:spLocks noGrp="1"/>
          </p:cNvSpPr>
          <p:nvPr>
            <p:ph type="subTitle" idx="1"/>
          </p:nvPr>
        </p:nvSpPr>
        <p:spPr>
          <a:xfrm>
            <a:off x="935665" y="510363"/>
            <a:ext cx="10366744" cy="5635256"/>
          </a:xfrm>
        </p:spPr>
        <p:txBody>
          <a:bodyPr/>
          <a:lstStyle/>
          <a:p>
            <a:pPr algn="l"/>
            <a:r>
              <a:rPr lang="en-US" b="1" dirty="0"/>
              <a:t>CONCLUSION</a:t>
            </a:r>
          </a:p>
          <a:p>
            <a:pPr algn="l"/>
            <a:r>
              <a:rPr lang="en-US" dirty="0"/>
              <a:t>The project successfully demonstrates how data visualization helps in analyzing student performance. Bar graphs and charts created using Matplotlib make the data easy to understand and interpret. This system can assist teachers and institutions in improving academic planning and decision-making.</a:t>
            </a:r>
          </a:p>
          <a:p>
            <a:pPr algn="l"/>
            <a:endParaRPr lang="en-US" dirty="0"/>
          </a:p>
          <a:p>
            <a:pPr algn="l"/>
            <a:r>
              <a:rPr lang="en-IN" b="1" dirty="0"/>
              <a:t>BIBLIOGRAPHY</a:t>
            </a:r>
          </a:p>
          <a:p>
            <a:pPr marL="342900" indent="-342900" algn="l">
              <a:buFont typeface="Arial" panose="020B0604020202020204" pitchFamily="34" charset="0"/>
              <a:buChar char="•"/>
            </a:pPr>
            <a:r>
              <a:rPr lang="en-IN" dirty="0"/>
              <a:t>Python Official Documentation</a:t>
            </a:r>
          </a:p>
          <a:p>
            <a:pPr marL="342900" indent="-342900" algn="l">
              <a:buFont typeface="Arial" panose="020B0604020202020204" pitchFamily="34" charset="0"/>
              <a:buChar char="•"/>
            </a:pPr>
            <a:r>
              <a:rPr lang="en-IN" dirty="0"/>
              <a:t>Matplotlib Documentation</a:t>
            </a:r>
          </a:p>
          <a:p>
            <a:pPr marL="342900" indent="-342900" algn="l">
              <a:buFont typeface="Arial" panose="020B0604020202020204" pitchFamily="34" charset="0"/>
              <a:buChar char="•"/>
            </a:pPr>
            <a:r>
              <a:rPr lang="en-IN" dirty="0"/>
              <a:t>NumPy Documentation</a:t>
            </a:r>
          </a:p>
          <a:p>
            <a:pPr marL="342900" indent="-342900" algn="l">
              <a:buFont typeface="Arial" panose="020B0604020202020204" pitchFamily="34" charset="0"/>
              <a:buChar char="•"/>
            </a:pPr>
            <a:r>
              <a:rPr lang="en-IN" dirty="0"/>
              <a:t>Data Visualization Concepts – Study Materia</a:t>
            </a:r>
          </a:p>
          <a:p>
            <a:pPr algn="l"/>
            <a:endParaRPr lang="en-IN" dirty="0"/>
          </a:p>
        </p:txBody>
      </p:sp>
    </p:spTree>
    <p:extLst>
      <p:ext uri="{BB962C8B-B14F-4D97-AF65-F5344CB8AC3E}">
        <p14:creationId xmlns:p14="http://schemas.microsoft.com/office/powerpoint/2010/main" val="1077629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530</Words>
  <Application>Microsoft Office PowerPoint</Application>
  <PresentationFormat>Widescreen</PresentationFormat>
  <Paragraphs>88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Californian FB</vt:lpstr>
      <vt:lpstr>Office Theme</vt:lpstr>
      <vt:lpstr>STUDENT PERFORMANCE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sinsinwar</dc:creator>
  <cp:lastModifiedBy>anjali sinsinwar</cp:lastModifiedBy>
  <cp:revision>2</cp:revision>
  <dcterms:created xsi:type="dcterms:W3CDTF">2026-01-11T06:05:43Z</dcterms:created>
  <dcterms:modified xsi:type="dcterms:W3CDTF">2026-05-16T16:03:31Z</dcterms:modified>
</cp:coreProperties>
</file>